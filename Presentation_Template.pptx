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4" r:id="rId4"/>
    <p:sldId id="263" r:id="rId5"/>
    <p:sldId id="265" r:id="rId6"/>
    <p:sldId id="259" r:id="rId7"/>
    <p:sldId id="260" r:id="rId8"/>
    <p:sldId id="261" r:id="rId9"/>
    <p:sldId id="266" r:id="rId10"/>
    <p:sldId id="262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Slab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81438"/>
  </p:normalViewPr>
  <p:slideViewPr>
    <p:cSldViewPr snapToGrid="0">
      <p:cViewPr varScale="1">
        <p:scale>
          <a:sx n="136" d="100"/>
          <a:sy n="136" d="100"/>
        </p:scale>
        <p:origin x="98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81F240C-9AC1-3DBE-389D-E1C15FF8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4E75D4F5-56B8-58CA-21CF-AA5A5D5F9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70F6505C-5FA3-B424-48C9-C24974593C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1209602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92EAFCF4-518D-4572-2249-6D07B9F1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E510E13A-40CE-E3A9-01F4-2DFBB556E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CC7FB30C-FA9D-91A4-1531-F7AE4AA38F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4006868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13CA472-0C8B-EEA4-2DB4-8C3A4BE6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6B74A96C-5D07-771C-3786-802A4A252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6E1728D2-7CB6-595A-ED18-625CC6985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1067154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9DB3043E-4177-66A5-552A-7AAEDBB0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>
            <a:extLst>
              <a:ext uri="{FF2B5EF4-FFF2-40B4-BE49-F238E27FC236}">
                <a16:creationId xmlns:a16="http://schemas.microsoft.com/office/drawing/2014/main" id="{1BF8EDBF-E6FB-A154-20AD-78F3DD0A1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>
            <a:extLst>
              <a:ext uri="{FF2B5EF4-FFF2-40B4-BE49-F238E27FC236}">
                <a16:creationId xmlns:a16="http://schemas.microsoft.com/office/drawing/2014/main" id="{68EA6246-2815-4634-A62B-026C1A1C8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829435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Inputs</a:t>
            </a:r>
            <a:r>
              <a:rPr lang="en-GB" sz="1600"/>
              <a:t>: </a:t>
            </a:r>
          </a:p>
          <a:p>
            <a:pPr lvl="1">
              <a:buFont typeface="Wingdings" pitchFamily="2" charset="2"/>
              <a:buChar char="q"/>
            </a:pPr>
            <a:r>
              <a:rPr lang="en-IN"/>
              <a:t>Customer information is collected from internal systems:</a:t>
            </a:r>
          </a:p>
          <a:p>
            <a:pPr lvl="1"/>
            <a:r>
              <a:rPr lang="en-IN"/>
              <a:t>Customer Demographics</a:t>
            </a:r>
          </a:p>
          <a:p>
            <a:pPr lvl="1"/>
            <a:r>
              <a:rPr lang="en-IN"/>
              <a:t>Income</a:t>
            </a:r>
          </a:p>
          <a:p>
            <a:pPr lvl="1"/>
            <a:r>
              <a:rPr lang="en-IN"/>
              <a:t>Credit Score</a:t>
            </a:r>
          </a:p>
          <a:p>
            <a:pPr lvl="1"/>
            <a:r>
              <a:rPr lang="en-IN"/>
              <a:t>Credit Utilization</a:t>
            </a:r>
          </a:p>
          <a:p>
            <a:pPr lvl="1"/>
            <a:r>
              <a:rPr lang="en-IN"/>
              <a:t>Loan Balance</a:t>
            </a:r>
          </a:p>
          <a:p>
            <a:pPr lvl="1"/>
            <a:r>
              <a:rPr lang="en-IN"/>
              <a:t>Debt-to-Income Ratio</a:t>
            </a:r>
          </a:p>
          <a:p>
            <a:pPr lvl="1"/>
            <a:r>
              <a:rPr lang="en-IN"/>
              <a:t>Payment History</a:t>
            </a:r>
          </a:p>
          <a:p>
            <a:pPr lvl="1"/>
            <a:r>
              <a:rPr lang="en-IN"/>
              <a:t>Missed Payments</a:t>
            </a:r>
          </a:p>
          <a:p>
            <a:pPr lvl="1"/>
            <a:r>
              <a:rPr lang="en-IN"/>
              <a:t>Employment Status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 decel="100000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 decel="100000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800" decel="100000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91B6E693-4EA2-1EFB-2F02-321E8942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6F377ACD-E250-7898-729D-9A95A41539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FEA2D0D4-8948-09B7-3406-F2865E6F0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Decision Logic</a:t>
            </a:r>
            <a:r>
              <a:rPr lang="en-GB" sz="1600"/>
              <a:t>:</a:t>
            </a:r>
          </a:p>
          <a:p>
            <a:pPr marL="596900" lvl="1" indent="0">
              <a:buNone/>
            </a:pPr>
            <a:r>
              <a:rPr lang="en-IN"/>
              <a:t>The Decision Tree model analyzes customer information and predicts risk.</a:t>
            </a:r>
          </a:p>
          <a:p>
            <a:pPr lvl="1">
              <a:buFont typeface="Wingdings" pitchFamily="2" charset="2"/>
              <a:buChar char="q"/>
            </a:pPr>
            <a:r>
              <a:rPr lang="en-IN"/>
              <a:t>Business rules classify customers into:</a:t>
            </a:r>
          </a:p>
          <a:p>
            <a:pPr lvl="1"/>
            <a:r>
              <a:rPr lang="en-IN" b="1"/>
              <a:t>Low Risk</a:t>
            </a:r>
            <a:endParaRPr lang="en-IN"/>
          </a:p>
          <a:p>
            <a:pPr lvl="1"/>
            <a:r>
              <a:rPr lang="en-IN" b="1"/>
              <a:t>Medium Risk</a:t>
            </a:r>
            <a:endParaRPr lang="en-IN"/>
          </a:p>
          <a:p>
            <a:pPr lvl="1"/>
            <a:r>
              <a:rPr lang="en-IN" b="1"/>
              <a:t>High Risk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1897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673768F8-D5B2-C54D-487B-9549724E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A54B87A2-3BF7-CC58-77C4-65434A67B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C6A73C8B-5A73-7592-1BFC-CF8D00979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Actions</a:t>
            </a:r>
            <a:r>
              <a:rPr lang="en-GB" sz="1600"/>
              <a:t>:</a:t>
            </a:r>
          </a:p>
          <a:p>
            <a:pPr lvl="1"/>
            <a:r>
              <a:rPr lang="en-IN"/>
              <a:t>Friendly payment reminder</a:t>
            </a:r>
          </a:p>
          <a:p>
            <a:pPr lvl="1"/>
            <a:r>
              <a:rPr lang="en-IN"/>
              <a:t>Email notification</a:t>
            </a:r>
          </a:p>
          <a:p>
            <a:pPr lvl="1"/>
            <a:r>
              <a:rPr lang="en-IN"/>
              <a:t>Medium Risk</a:t>
            </a:r>
          </a:p>
          <a:p>
            <a:pPr lvl="1"/>
            <a:r>
              <a:rPr lang="en-IN"/>
              <a:t>SMS reminder</a:t>
            </a:r>
          </a:p>
          <a:p>
            <a:pPr lvl="1"/>
            <a:r>
              <a:rPr lang="en-IN"/>
              <a:t>Phone call</a:t>
            </a:r>
          </a:p>
          <a:p>
            <a:pPr lvl="1"/>
            <a:r>
              <a:rPr lang="en-IN"/>
              <a:t>Flexible payment plan</a:t>
            </a:r>
          </a:p>
          <a:p>
            <a:pPr lvl="1"/>
            <a:r>
              <a:rPr lang="en-IN" b="1"/>
              <a:t>High Risk</a:t>
            </a:r>
            <a:endParaRPr lang="en-IN"/>
          </a:p>
          <a:p>
            <a:pPr lvl="1"/>
            <a:r>
              <a:rPr lang="en-IN"/>
              <a:t>Collections officer review</a:t>
            </a:r>
          </a:p>
          <a:p>
            <a:pPr lvl="1"/>
            <a:r>
              <a:rPr lang="en-IN"/>
              <a:t>Hardship assessment</a:t>
            </a:r>
          </a:p>
          <a:p>
            <a:pPr lvl="1"/>
            <a:r>
              <a:rPr lang="en-IN"/>
              <a:t>Escalation to specialist team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1589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87C9BCC9-ABBC-E7C1-BF28-E4000261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3AEE1FAF-1AC2-5B8E-C7E6-DD5EC4F91B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6E9967AD-FF13-6F1E-7378-BEC478B41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Act\Learning</a:t>
            </a:r>
            <a:r>
              <a:rPr lang="en-GB" sz="1600"/>
              <a:t>:</a:t>
            </a:r>
          </a:p>
          <a:p>
            <a:pPr marL="596900" lvl="1" indent="0">
              <a:buNone/>
            </a:pPr>
            <a:r>
              <a:rPr lang="en-IN"/>
              <a:t>The system continuously learns by monitoring:</a:t>
            </a:r>
          </a:p>
          <a:p>
            <a:pPr lvl="1"/>
            <a:r>
              <a:rPr lang="en-IN"/>
              <a:t>Payment outcomes</a:t>
            </a:r>
          </a:p>
          <a:p>
            <a:pPr lvl="1"/>
            <a:r>
              <a:rPr lang="en-IN"/>
              <a:t>Customer responses</a:t>
            </a:r>
          </a:p>
          <a:p>
            <a:pPr lvl="1"/>
            <a:r>
              <a:rPr lang="en-IN"/>
              <a:t>Collection success rate</a:t>
            </a:r>
          </a:p>
          <a:p>
            <a:pPr lvl="1"/>
            <a:r>
              <a:rPr lang="en-IN"/>
              <a:t>Model accuracy</a:t>
            </a:r>
          </a:p>
          <a:p>
            <a:pPr marL="596900" lvl="1" indent="0">
              <a:buNone/>
            </a:pPr>
            <a:r>
              <a:rPr lang="en-IN"/>
              <a:t>The Decision Tree model is retrained periodically using updated customer data to improve prediction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0952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IN"/>
              <a:t>Role of Agentic AI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6C5309-F2FD-E5CF-06EF-2E3D254E6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661091"/>
              </p:ext>
            </p:extLst>
          </p:nvPr>
        </p:nvGraphicFramePr>
        <p:xfrm>
          <a:off x="387350" y="2114550"/>
          <a:ext cx="8369300" cy="1828800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1063780088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434724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>
                          <a:solidFill>
                            <a:schemeClr val="tx1"/>
                          </a:solidFill>
                          <a:effectLst/>
                        </a:rPr>
                        <a:t>Autonomous AI Activities</a:t>
                      </a:r>
                      <a:endParaRPr lang="en-IN" b="0" i="0" u="none" strike="noStrike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>
                          <a:solidFill>
                            <a:schemeClr val="tx1"/>
                          </a:solidFill>
                          <a:effectLst/>
                        </a:rPr>
                        <a:t>Human Oversight Activities</a:t>
                      </a:r>
                      <a:endParaRPr lang="en-IN" b="0" i="0" u="none" strike="noStrike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88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Predict delinquency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Approve hardship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4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Send payment reminders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Review high-risk customer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49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Prioritize collection queues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Override AI recommendations if necessary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976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Recommend payment options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Handle customer complaints and disputes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057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Update customer risk 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chemeClr val="tx1"/>
                          </a:solidFill>
                          <a:effectLst/>
                        </a:rPr>
                        <a:t>Monitor model fairness and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9433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159836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AF1B6-AE3D-3354-1FA1-8B1E1EF337D0}"/>
              </a:ext>
            </a:extLst>
          </p:cNvPr>
          <p:cNvSpPr txBox="1"/>
          <p:nvPr/>
        </p:nvSpPr>
        <p:spPr>
          <a:xfrm>
            <a:off x="415480" y="772998"/>
            <a:ext cx="36198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Fairness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Regularly test the model for bias across different customer groups.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Avoid using sensitive personal characteristics in predictions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B191D-8C2D-8191-F8A0-939F98C6771B}"/>
              </a:ext>
            </a:extLst>
          </p:cNvPr>
          <p:cNvSpPr txBox="1"/>
          <p:nvPr/>
        </p:nvSpPr>
        <p:spPr>
          <a:xfrm>
            <a:off x="4528538" y="772998"/>
            <a:ext cx="36198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Use Decision Tree decision rules to explain every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Allow collections staff to understand why a customer is classified as high risk.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F2FBA-BDF4-8847-6D5F-FEB2F4875D2B}"/>
              </a:ext>
            </a:extLst>
          </p:cNvPr>
          <p:cNvSpPr txBox="1"/>
          <p:nvPr/>
        </p:nvSpPr>
        <p:spPr>
          <a:xfrm>
            <a:off x="2826650" y="3814113"/>
            <a:ext cx="381785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Continuous Monitoring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Monitor prediction accuracy.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Retrain the model regularly.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Audit AI decisions periodically.</a:t>
            </a:r>
          </a:p>
          <a:p>
            <a:endParaRPr lang="en-IN" b="0" i="0" u="none" strike="noStrike"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70819-198D-D4FA-B010-CC845CEAAADD}"/>
              </a:ext>
            </a:extLst>
          </p:cNvPr>
          <p:cNvSpPr txBox="1"/>
          <p:nvPr/>
        </p:nvSpPr>
        <p:spPr>
          <a:xfrm>
            <a:off x="387900" y="2200737"/>
            <a:ext cx="38178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Regulatory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Follow applicable financial regulations and privacy requirements.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Protect customer data through secure storage and controlled access.</a:t>
            </a:r>
          </a:p>
          <a:p>
            <a:endParaRPr lang="en-IN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87795-654D-ACFD-AB43-1B8DD0BDEA2C}"/>
              </a:ext>
            </a:extLst>
          </p:cNvPr>
          <p:cNvSpPr txBox="1"/>
          <p:nvPr/>
        </p:nvSpPr>
        <p:spPr>
          <a:xfrm>
            <a:off x="4528538" y="2446500"/>
            <a:ext cx="38178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Human-in-the-Loop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Require manual approval before major collection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Allow staff to override AI recommendations when necessary.</a:t>
            </a:r>
          </a:p>
          <a:p>
            <a:endParaRPr lang="en-IN" b="0" i="0" u="none" strike="noStrike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7391B7-0831-F69F-0DD5-A2D69A41D854}"/>
              </a:ext>
            </a:extLst>
          </p:cNvPr>
          <p:cNvSpPr txBox="1"/>
          <p:nvPr/>
        </p:nvSpPr>
        <p:spPr>
          <a:xfrm>
            <a:off x="481468" y="1630838"/>
            <a:ext cx="36198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Business KPIs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Reduce delinquency rate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Increase repayment rate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Reduce collection costs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Improve collection efficiency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Increase recovery rate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Improve model prediction accuracy</a:t>
            </a:r>
          </a:p>
          <a:p>
            <a:br>
              <a:rPr lang="en-IN"/>
            </a:b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711FB-26F8-EA27-65DB-7510356F0382}"/>
              </a:ext>
            </a:extLst>
          </p:cNvPr>
          <p:cNvSpPr txBox="1"/>
          <p:nvPr/>
        </p:nvSpPr>
        <p:spPr>
          <a:xfrm>
            <a:off x="4759835" y="1523115"/>
            <a:ext cx="36198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Customer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Personalized collection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Fair and transparent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Earlier financial support for struggling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Better customer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Reduced financial 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Increased customer trust and satisfaction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9513D29-8C92-BBB8-3915-880B1BF9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>
            <a:extLst>
              <a:ext uri="{FF2B5EF4-FFF2-40B4-BE49-F238E27FC236}">
                <a16:creationId xmlns:a16="http://schemas.microsoft.com/office/drawing/2014/main" id="{911A8EB6-559C-FCC3-F5CD-E63016CEC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6DD14-2156-75E4-F320-8FF4D954FDB2}"/>
              </a:ext>
            </a:extLst>
          </p:cNvPr>
          <p:cNvSpPr txBox="1"/>
          <p:nvPr/>
        </p:nvSpPr>
        <p:spPr>
          <a:xfrm>
            <a:off x="481468" y="1630838"/>
            <a:ext cx="36198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Quantitative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15% reduction in delinquent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10% increase in repayment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Faster collections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Lower operational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>
                <a:solidFill>
                  <a:schemeClr val="tx1"/>
                </a:solidFill>
              </a:rPr>
            </a:b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BEBF2-A139-4466-71F3-7304E421B158}"/>
              </a:ext>
            </a:extLst>
          </p:cNvPr>
          <p:cNvSpPr txBox="1"/>
          <p:nvPr/>
        </p:nvSpPr>
        <p:spPr>
          <a:xfrm>
            <a:off x="4816395" y="1630838"/>
            <a:ext cx="36198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>
                <a:solidFill>
                  <a:schemeClr val="tx1"/>
                </a:solidFill>
              </a:rPr>
              <a:t>Qualitative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Improved fairness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Better 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Increased customer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More scalable collections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</a:rPr>
              <a:t>Improved regulatory compliance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32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0" y="957646"/>
            <a:ext cx="8368200" cy="686100"/>
          </a:xfrm>
        </p:spPr>
        <p:txBody>
          <a:bodyPr>
            <a:normAutofit fontScale="90000"/>
          </a:bodyPr>
          <a:lstStyle/>
          <a:p>
            <a:r>
              <a:rPr lang="en-IN" b="1"/>
              <a:t>Conclusion</a:t>
            </a:r>
            <a:br>
              <a:rPr lang="en-IN" b="1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The proposed AI-powered collections system combines a </a:t>
            </a:r>
            <a:r>
              <a:rPr lang="en-IN" b="1"/>
              <a:t>Decision Tree model</a:t>
            </a:r>
            <a:r>
              <a:rPr lang="en-IN"/>
              <a:t>, business rules, and human oversight to support smarter and more responsible collections. By identifying high-risk customers early, automating routine tasks, and maintaining transparency through explainable AI, Geldium can reduce delinquency, improve operational efficiency, and enhance customer experience while ensuring ethical and compliant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1006</Words>
  <Application>Microsoft Macintosh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Slab</vt:lpstr>
      <vt:lpstr>Arial</vt:lpstr>
      <vt:lpstr>Roboto</vt:lpstr>
      <vt:lpstr>Wingdings</vt:lpstr>
      <vt:lpstr>Marina</vt:lpstr>
      <vt:lpstr>AI-Powered Collections Strategy</vt:lpstr>
      <vt:lpstr>How the System Works</vt:lpstr>
      <vt:lpstr>How the System Works</vt:lpstr>
      <vt:lpstr>How the System Works</vt:lpstr>
      <vt:lpstr>How the System Works</vt:lpstr>
      <vt:lpstr>Role of Agentic AI</vt:lpstr>
      <vt:lpstr>Responsible AI Guardrails</vt:lpstr>
      <vt:lpstr>Expected Business Impact</vt:lpstr>
      <vt:lpstr>Expected Business Impact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</cp:lastModifiedBy>
  <cp:revision>3</cp:revision>
  <dcterms:modified xsi:type="dcterms:W3CDTF">2026-08-05T11:05:57Z</dcterms:modified>
</cp:coreProperties>
</file>